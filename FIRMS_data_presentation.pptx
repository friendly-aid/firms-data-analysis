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erriweather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Light-italic.fntdata"/><Relationship Id="rId30" Type="http://schemas.openxmlformats.org/officeDocument/2006/relationships/font" Target="fonts/Merriweather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erriweatherLigh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07934ed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07934ed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07934ed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07934ed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07934ed7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07934ed7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09f5d3aa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09f5d3a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0d13599e7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0d13599e7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09f5d3aa1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09f5d3aa1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09f5d3aa1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09f5d3aa1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09f5d3aa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09f5d3aa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7f14f06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77f14f06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0c2e380e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70c2e380e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0c2e380e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0c2e380e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0c2e380e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0c2e380e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09f5d3aa1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09f5d3aa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09f5d3aa1_1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709f5d3aa1_1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0c2e380e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70c2e380e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09f5d3aa1_1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709f5d3aa1_1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70c2e380e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70c2e380e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709f5d3aa1_1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709f5d3aa1_1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0c2e380e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0c2e380e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70b628f55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70b628f55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0c2e380e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70c2e380e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0c2e380ed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0c2e380ed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Hello! My name is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Josiah Gipson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9333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In this presentation I am going to</a:t>
            </a:r>
            <a:endParaRPr>
              <a:solidFill>
                <a:srgbClr val="EFEFE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FEFEF"/>
                </a:solidFill>
              </a:rPr>
              <a:t>go over fire detection data in the US</a:t>
            </a: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using-a-fire-extinguish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822375"/>
            <a:ext cx="8520600" cy="14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Why fires?</a:t>
            </a:r>
            <a:endParaRPr sz="4200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25" y="2205275"/>
            <a:ext cx="9144000" cy="118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solidFill>
                  <a:srgbClr val="EFEFEF"/>
                </a:solidFill>
              </a:rPr>
              <a:t>Well fires can be dangerous, and it is always helpful to know when and where fires happen;</a:t>
            </a:r>
            <a:endParaRPr sz="1700">
              <a:solidFill>
                <a:srgbClr val="EFEFE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00">
                <a:solidFill>
                  <a:srgbClr val="EFEFEF"/>
                </a:solidFill>
              </a:rPr>
              <a:t>And I found they can happen almost anywhere.</a:t>
            </a:r>
            <a:endParaRPr sz="1700">
              <a:solidFill>
                <a:srgbClr val="EFEFEF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0"/>
            <a:ext cx="9144000" cy="111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</a:rPr>
              <a:t>Below you can see detected fires in the US since the year 2000</a:t>
            </a:r>
            <a:endParaRPr sz="222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</a:rPr>
              <a:t> </a:t>
            </a:r>
            <a:r>
              <a:rPr lang="en" sz="2220">
                <a:solidFill>
                  <a:schemeClr val="lt1"/>
                </a:solidFill>
              </a:rPr>
              <a:t>And it shows how almost nowhere is safe from fire.</a:t>
            </a:r>
            <a:endParaRPr sz="2220">
              <a:solidFill>
                <a:schemeClr val="lt1"/>
              </a:solidFill>
            </a:endParaRPr>
          </a:p>
        </p:txBody>
      </p:sp>
      <p:pic>
        <p:nvPicPr>
          <p:cNvPr id="68" name="Google Shape;68;p15" title="Screenshot 2025-07-22 1635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6300"/>
            <a:ext cx="9144003" cy="402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planet-earth-against-black-backgroun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711350"/>
            <a:ext cx="8520600" cy="17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Now before I go into a deeper geographical and temporal analysis of where and when fires happen, I want to talk to you about FIRMS.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satellite-and-eart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711350"/>
            <a:ext cx="8520600" cy="17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FIRMS stands for “Fire Information for Resource Management System”, and it is hosted by NASA. It is also the source for my data.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satellite-and-eart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711350"/>
            <a:ext cx="8520600" cy="17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The data I used for this presentation was limited to the US, and has nearly 3 Million entries.</a:t>
            </a:r>
            <a:endParaRPr sz="29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 title="satellite-and-eart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How does FIRMS work?: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FIRMS provides near real time fire detection data from satellites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It has two main types of sensors MODIS and VIIRS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The sensors detect when there is a thermal anomaly, usually from </a:t>
            </a:r>
            <a:r>
              <a:rPr lang="en">
                <a:solidFill>
                  <a:schemeClr val="lt1"/>
                </a:solidFill>
              </a:rPr>
              <a:t>infrared</a:t>
            </a:r>
            <a:r>
              <a:rPr lang="en">
                <a:solidFill>
                  <a:schemeClr val="lt1"/>
                </a:solidFill>
              </a:rPr>
              <a:t> radiation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When the thermal anomaly persits for an amount of time it detects a fire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0" title="satellite-and-eart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512700" y="1924200"/>
            <a:ext cx="8118600" cy="12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1"/>
                </a:solidFill>
              </a:rPr>
              <a:t>When a fire is detected it is also associated with a confidence level that has a value from 0 to 100 which is grouped into High(greater than 80), Nominal/Normal(greater than 30), and Low(under 30), and I wanted to know what related to that confidence level, and if I could predict it based off of the other data in the dataset.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 title="deep-neural-network-dnn-diagram-an-artificial-neural-network-ann-with-multiple-layer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"/>
            <a:ext cx="915213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5763" y="641950"/>
            <a:ext cx="8520600" cy="7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My methods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063" y="1557375"/>
            <a:ext cx="4572000" cy="17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71">
                <a:solidFill>
                  <a:schemeClr val="lt1"/>
                </a:solidFill>
              </a:rPr>
              <a:t>Models: Linear regression,</a:t>
            </a:r>
            <a:endParaRPr sz="207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71">
                <a:solidFill>
                  <a:schemeClr val="lt1"/>
                </a:solidFill>
              </a:rPr>
              <a:t>Logistic regression,</a:t>
            </a:r>
            <a:endParaRPr sz="207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71">
                <a:solidFill>
                  <a:schemeClr val="lt1"/>
                </a:solidFill>
              </a:rPr>
              <a:t>Polynomial features,</a:t>
            </a:r>
            <a:endParaRPr sz="207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71">
                <a:solidFill>
                  <a:schemeClr val="lt1"/>
                </a:solidFill>
              </a:rPr>
              <a:t>R</a:t>
            </a:r>
            <a:r>
              <a:rPr lang="en" sz="2071">
                <a:solidFill>
                  <a:schemeClr val="lt1"/>
                </a:solidFill>
              </a:rPr>
              <a:t>andom Forest Regressor,</a:t>
            </a:r>
            <a:endParaRPr sz="2071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2071">
                <a:solidFill>
                  <a:schemeClr val="lt1"/>
                </a:solidFill>
              </a:rPr>
              <a:t>Random Forest</a:t>
            </a:r>
            <a:r>
              <a:rPr lang="en" sz="2071">
                <a:solidFill>
                  <a:schemeClr val="lt1"/>
                </a:solidFill>
              </a:rPr>
              <a:t> Classifier</a:t>
            </a:r>
            <a:endParaRPr sz="2071">
              <a:solidFill>
                <a:schemeClr val="lt1"/>
              </a:solidFill>
            </a:endParaRPr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4576063" y="1557375"/>
            <a:ext cx="45720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Analysis</a:t>
            </a:r>
            <a:r>
              <a:rPr lang="en" sz="2060">
                <a:solidFill>
                  <a:schemeClr val="lt1"/>
                </a:solidFill>
              </a:rPr>
              <a:t>: R2 score,</a:t>
            </a:r>
            <a:endParaRPr sz="20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MSE(Mean square error),</a:t>
            </a:r>
            <a:endParaRPr sz="20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Accuracy score,</a:t>
            </a:r>
            <a:endParaRPr sz="20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Classification report,</a:t>
            </a:r>
            <a:endParaRPr sz="20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Feature importances</a:t>
            </a:r>
            <a:endParaRPr sz="206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2" title="deep-neural-network-dnn-diagram-an-artificial-neural-network-ann-with-multiple-layer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"/>
            <a:ext cx="915213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5763" y="641950"/>
            <a:ext cx="8520600" cy="7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What is the difference between models?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4576075" y="1557375"/>
            <a:ext cx="4572000" cy="26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The regression models use mathematical formulas to find the relation between independent and target variables, Linear is for numerical values, while Logistic is for categorical values.</a:t>
            </a:r>
            <a:endParaRPr sz="2060">
              <a:solidFill>
                <a:schemeClr val="lt1"/>
              </a:solidFill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0" y="1554473"/>
            <a:ext cx="4572000" cy="26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2060">
                <a:solidFill>
                  <a:schemeClr val="lt1"/>
                </a:solidFill>
              </a:rPr>
              <a:t>The Forests are essentially A collection of decision trees that compare the independent variables to set values. The Regressor is used for numerical values, while the Classifier is used for categorical values</a:t>
            </a:r>
            <a:endParaRPr sz="206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 title="deep-neural-network-dnn-diagram-an-artificial-neural-network-ann-with-multiple-layer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"/>
            <a:ext cx="915213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5763" y="795125"/>
            <a:ext cx="8520600" cy="73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900">
                <a:solidFill>
                  <a:schemeClr val="lt1"/>
                </a:solidFill>
              </a:rPr>
              <a:t>What do the values mean?</a:t>
            </a:r>
            <a:endParaRPr sz="2900">
              <a:solidFill>
                <a:schemeClr val="lt1"/>
              </a:solidFill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5763" y="1871605"/>
            <a:ext cx="8520600" cy="17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lt1"/>
                </a:solidFill>
              </a:rPr>
              <a:t>R2 score represents how well the model predicts,</a:t>
            </a:r>
            <a:endParaRPr sz="19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lt1"/>
                </a:solidFill>
              </a:rPr>
              <a:t>MSE represents the average prediction error squared,</a:t>
            </a:r>
            <a:endParaRPr sz="19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lt1"/>
                </a:solidFill>
              </a:rPr>
              <a:t>Precision is the ratio of correct positives over all predicted positives</a:t>
            </a:r>
            <a:endParaRPr sz="19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lt1"/>
                </a:solidFill>
              </a:rPr>
              <a:t>Recall is the ratio of correct positives over all actual positives</a:t>
            </a:r>
            <a:endParaRPr sz="196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960">
                <a:solidFill>
                  <a:schemeClr val="lt1"/>
                </a:solidFill>
              </a:rPr>
              <a:t>f1-score is the average of precision and recall</a:t>
            </a:r>
            <a:endParaRPr sz="196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 title="ChatGPT Image Jul 19, 2025, 06_44_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>
            <p:ph type="title"/>
          </p:nvPr>
        </p:nvSpPr>
        <p:spPr>
          <a:xfrm>
            <a:off x="0" y="1110725"/>
            <a:ext cx="9144000" cy="10854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First I </a:t>
            </a:r>
            <a:r>
              <a:rPr lang="en" sz="2668">
                <a:solidFill>
                  <a:schemeClr val="lt1"/>
                </a:solidFill>
              </a:rPr>
              <a:t>made a linear regression model than I added polynomial features for non linear relationships</a:t>
            </a:r>
            <a:endParaRPr sz="2668">
              <a:solidFill>
                <a:schemeClr val="lt1"/>
              </a:solidFill>
            </a:endParaRPr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0" y="4624800"/>
            <a:ext cx="353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D9D9D9"/>
                </a:solidFill>
              </a:rPr>
              <a:t>Numbers rounded for simplicity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29" name="Google Shape;129;p24"/>
          <p:cNvSpPr txBox="1"/>
          <p:nvPr>
            <p:ph type="title"/>
          </p:nvPr>
        </p:nvSpPr>
        <p:spPr>
          <a:xfrm>
            <a:off x="0" y="2397175"/>
            <a:ext cx="4572000" cy="10854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1">
                <a:solidFill>
                  <a:schemeClr val="lt1"/>
                </a:solidFill>
              </a:rPr>
              <a:t>The normal regression model had a</a:t>
            </a:r>
            <a:endParaRPr sz="180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1">
                <a:solidFill>
                  <a:schemeClr val="lt1"/>
                </a:solidFill>
              </a:rPr>
              <a:t>R2 score of ~0.44, and a MSE of ~0.17</a:t>
            </a:r>
            <a:endParaRPr sz="1801">
              <a:solidFill>
                <a:schemeClr val="lt1"/>
              </a:solidFill>
            </a:endParaRPr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4572000" y="2397175"/>
            <a:ext cx="4572000" cy="10854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1">
                <a:solidFill>
                  <a:schemeClr val="lt1"/>
                </a:solidFill>
              </a:rPr>
              <a:t>The polynomial regression model had a</a:t>
            </a:r>
            <a:endParaRPr sz="180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1">
                <a:solidFill>
                  <a:schemeClr val="lt1"/>
                </a:solidFill>
              </a:rPr>
              <a:t>R2 score of ~0.57, and a MSE of ~0.15</a:t>
            </a:r>
            <a:endParaRPr sz="1801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 title="ChatGPT Image Jul 19, 2025, 06_44_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>
            <p:ph type="title"/>
          </p:nvPr>
        </p:nvSpPr>
        <p:spPr>
          <a:xfrm>
            <a:off x="0" y="1311775"/>
            <a:ext cx="9144000" cy="10854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Next I made a Random Forest Regressor model</a:t>
            </a:r>
            <a:endParaRPr sz="2668">
              <a:solidFill>
                <a:schemeClr val="lt1"/>
              </a:solidFill>
            </a:endParaRP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0" y="4624800"/>
            <a:ext cx="353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D9D9D9"/>
                </a:solidFill>
              </a:rPr>
              <a:t>Numbers rounded for simplicity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47875" y="2363650"/>
            <a:ext cx="4572000" cy="10854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1">
                <a:solidFill>
                  <a:schemeClr val="lt1"/>
                </a:solidFill>
              </a:rPr>
              <a:t>The random forest regressor had a</a:t>
            </a:r>
            <a:endParaRPr sz="180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1">
                <a:solidFill>
                  <a:schemeClr val="lt1"/>
                </a:solidFill>
              </a:rPr>
              <a:t>R2 score of ~0.70, and a MSE of ~0.13</a:t>
            </a:r>
            <a:endParaRPr sz="1801">
              <a:solidFill>
                <a:schemeClr val="lt1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4887975" y="2154325"/>
            <a:ext cx="2952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Top feature importances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4887975" y="2679325"/>
            <a:ext cx="37533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Brightness at 0.539, and bright_t31 at 0.060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latitude at 0.064</a:t>
            </a:r>
            <a:r>
              <a:rPr lang="en">
                <a:solidFill>
                  <a:schemeClr val="lt1"/>
                </a:solidFill>
              </a:rPr>
              <a:t>, </a:t>
            </a:r>
            <a:r>
              <a:rPr lang="en">
                <a:solidFill>
                  <a:schemeClr val="lt1"/>
                </a:solidFill>
              </a:rPr>
              <a:t>and longitude at 0.068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and frp(Fire Radiative Power) at 0.093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 title="ChatGPT Image Jul 19, 2025, 06_44_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>
            <p:ph type="title"/>
          </p:nvPr>
        </p:nvSpPr>
        <p:spPr>
          <a:xfrm>
            <a:off x="91440" y="1688575"/>
            <a:ext cx="2832900" cy="5457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Logistic regression</a:t>
            </a:r>
            <a:endParaRPr sz="2668">
              <a:solidFill>
                <a:schemeClr val="lt1"/>
              </a:solidFill>
            </a:endParaRPr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0" y="4624800"/>
            <a:ext cx="3532500" cy="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D9D9D9"/>
                </a:solidFill>
              </a:rPr>
              <a:t>Numbers rounded for simplicity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148" name="Google Shape;148;p26"/>
          <p:cNvSpPr txBox="1"/>
          <p:nvPr/>
        </p:nvSpPr>
        <p:spPr>
          <a:xfrm>
            <a:off x="1187299" y="223437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precision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2006847" y="223437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recall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2826395" y="223437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f1-score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3645942" y="223437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support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2" name="Google Shape;152;p26"/>
          <p:cNvSpPr txBox="1"/>
          <p:nvPr/>
        </p:nvSpPr>
        <p:spPr>
          <a:xfrm>
            <a:off x="444899" y="2408725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550">
            <a:noAutofit/>
          </a:bodyPr>
          <a:lstStyle/>
          <a:p>
            <a:pPr indent="0" lvl="0" marL="0" marR="4572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high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3" name="Google Shape;153;p26"/>
          <p:cNvSpPr txBox="1"/>
          <p:nvPr/>
        </p:nvSpPr>
        <p:spPr>
          <a:xfrm>
            <a:off x="444899" y="2583117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550">
            <a:noAutofit/>
          </a:bodyPr>
          <a:lstStyle/>
          <a:p>
            <a:pPr indent="0" lvl="0" marL="0" marR="4572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nominal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4" name="Google Shape;154;p26"/>
          <p:cNvSpPr txBox="1"/>
          <p:nvPr/>
        </p:nvSpPr>
        <p:spPr>
          <a:xfrm>
            <a:off x="444899" y="2757498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64000">
            <a:noAutofit/>
          </a:bodyPr>
          <a:lstStyle/>
          <a:p>
            <a:pPr indent="0" lvl="0" marL="0" marR="4572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low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1187299" y="240874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6" name="Google Shape;156;p26"/>
          <p:cNvSpPr txBox="1"/>
          <p:nvPr/>
        </p:nvSpPr>
        <p:spPr>
          <a:xfrm>
            <a:off x="2006847" y="240874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0.76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2826395" y="240874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0.81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3645942" y="240874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185330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1187299" y="258311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0.81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2006847" y="258311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0.94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2826395" y="258311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3645942" y="258311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355943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1187299" y="2757489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0.00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2006847" y="2757489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0.00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2826395" y="2757489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0.00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3645942" y="2757489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36574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91440" y="2931863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</a:t>
            </a: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ccuracy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91440" y="3106243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Macro avg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69" name="Google Shape;169;p26"/>
          <p:cNvSpPr txBox="1"/>
          <p:nvPr/>
        </p:nvSpPr>
        <p:spPr>
          <a:xfrm>
            <a:off x="91440" y="3280612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Weighted avg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1187299" y="293186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t/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2006847" y="293186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t/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2826395" y="293186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0.82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3645942" y="293186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4" name="Google Shape;174;p26"/>
          <p:cNvSpPr txBox="1"/>
          <p:nvPr/>
        </p:nvSpPr>
        <p:spPr>
          <a:xfrm>
            <a:off x="1187299" y="3106232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0.56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2006847" y="3106232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0.57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2826395" y="3106232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0.56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7" name="Google Shape;177;p26"/>
          <p:cNvSpPr txBox="1"/>
          <p:nvPr/>
        </p:nvSpPr>
        <p:spPr>
          <a:xfrm>
            <a:off x="3645942" y="3106232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187299" y="328060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0.79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2006847" y="328060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0.82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2826395" y="328060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3645942" y="328060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2" name="Google Shape;182;p26"/>
          <p:cNvSpPr txBox="1"/>
          <p:nvPr>
            <p:ph type="title"/>
          </p:nvPr>
        </p:nvSpPr>
        <p:spPr>
          <a:xfrm>
            <a:off x="4713640" y="1691640"/>
            <a:ext cx="4323900" cy="5457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Polynomial </a:t>
            </a:r>
            <a:r>
              <a:rPr lang="en" sz="2668">
                <a:solidFill>
                  <a:schemeClr val="lt1"/>
                </a:solidFill>
              </a:rPr>
              <a:t>Logistic regression</a:t>
            </a:r>
            <a:endParaRPr sz="2668">
              <a:solidFill>
                <a:schemeClr val="lt1"/>
              </a:solidFill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5759300" y="223742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precision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6578847" y="223742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recall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7398395" y="223742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f1-score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8217943" y="223742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support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5759300" y="241179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8" name="Google Shape;188;p26"/>
          <p:cNvSpPr txBox="1"/>
          <p:nvPr/>
        </p:nvSpPr>
        <p:spPr>
          <a:xfrm>
            <a:off x="6578847" y="241179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0.67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89" name="Google Shape;189;p26"/>
          <p:cNvSpPr txBox="1"/>
          <p:nvPr/>
        </p:nvSpPr>
        <p:spPr>
          <a:xfrm>
            <a:off x="7398395" y="241179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0.75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8217943" y="241179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185524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5759300" y="258617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0.78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6578847" y="258617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0.95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7398395" y="258617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8217943" y="258617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355483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5759300" y="276054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0.00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6578847" y="276054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0.00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7398395" y="276054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0.00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8217943" y="276054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36840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4663440" y="2934915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accuracy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4663440" y="3109295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Macro avg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4663440" y="3283664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Weighted avg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2" name="Google Shape;202;p26"/>
          <p:cNvSpPr txBox="1"/>
          <p:nvPr/>
        </p:nvSpPr>
        <p:spPr>
          <a:xfrm>
            <a:off x="5759300" y="293491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t/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6578847" y="293491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t/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4" name="Google Shape;204;p26"/>
          <p:cNvSpPr txBox="1"/>
          <p:nvPr/>
        </p:nvSpPr>
        <p:spPr>
          <a:xfrm>
            <a:off x="7398395" y="293491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5" name="Google Shape;205;p26"/>
          <p:cNvSpPr txBox="1"/>
          <p:nvPr/>
        </p:nvSpPr>
        <p:spPr>
          <a:xfrm>
            <a:off x="8217943" y="293491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5759300" y="310928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0.55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6578847" y="310928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0.54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7398395" y="310928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0.54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8217943" y="310928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5759300" y="328365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0.76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1" name="Google Shape;211;p26"/>
          <p:cNvSpPr txBox="1"/>
          <p:nvPr/>
        </p:nvSpPr>
        <p:spPr>
          <a:xfrm>
            <a:off x="6578847" y="328365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2" name="Google Shape;212;p26"/>
          <p:cNvSpPr txBox="1"/>
          <p:nvPr/>
        </p:nvSpPr>
        <p:spPr>
          <a:xfrm>
            <a:off x="7398395" y="328365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0.77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8217943" y="328365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5017149" y="2411775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550">
            <a:noAutofit/>
          </a:bodyPr>
          <a:lstStyle/>
          <a:p>
            <a:pPr indent="0" lvl="0" marL="0" marR="4572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high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5017149" y="2586167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550">
            <a:noAutofit/>
          </a:bodyPr>
          <a:lstStyle/>
          <a:p>
            <a:pPr indent="0" lvl="0" marL="0" marR="4572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nominal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5017149" y="2760548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64000">
            <a:noAutofit/>
          </a:bodyPr>
          <a:lstStyle/>
          <a:p>
            <a:pPr indent="0" lvl="0" marL="0" marR="4572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low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17" name="Google Shape;217;p26"/>
          <p:cNvSpPr txBox="1"/>
          <p:nvPr>
            <p:ph type="title"/>
          </p:nvPr>
        </p:nvSpPr>
        <p:spPr>
          <a:xfrm>
            <a:off x="0" y="359075"/>
            <a:ext cx="9144000" cy="10854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Next I made a logistic regression and used polynomial features on logistic regression</a:t>
            </a:r>
            <a:endParaRPr sz="2668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 title="ChatGPT Image Jul 19, 2025, 06_44_1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>
            <p:ph type="title"/>
          </p:nvPr>
        </p:nvSpPr>
        <p:spPr>
          <a:xfrm>
            <a:off x="343288" y="1501388"/>
            <a:ext cx="2832900" cy="545700"/>
          </a:xfrm>
          <a:prstGeom prst="rect">
            <a:avLst/>
          </a:prstGeom>
          <a:ln>
            <a:noFill/>
          </a:ln>
        </p:spPr>
        <p:txBody>
          <a:bodyPr anchorCtr="0" anchor="t" bIns="87125" lIns="87125" spcFirstLastPara="1" rIns="87125" wrap="square" tIns="871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Decision tree</a:t>
            </a:r>
            <a:endParaRPr sz="2668">
              <a:solidFill>
                <a:schemeClr val="lt1"/>
              </a:solidFill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1439147" y="204718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precision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2258695" y="204718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recall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3078242" y="204718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f1-score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3897790" y="2047187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support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1439147" y="222155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2258695" y="222155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0.85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3078242" y="222155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3897790" y="2221558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185618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1439147" y="239593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2258695" y="239593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3078242" y="239593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0.86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5" name="Google Shape;235;p27"/>
          <p:cNvSpPr txBox="1"/>
          <p:nvPr/>
        </p:nvSpPr>
        <p:spPr>
          <a:xfrm>
            <a:off x="3897790" y="2395930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355185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6" name="Google Shape;236;p27"/>
          <p:cNvSpPr txBox="1"/>
          <p:nvPr/>
        </p:nvSpPr>
        <p:spPr>
          <a:xfrm>
            <a:off x="1439147" y="257030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0.29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2258695" y="257030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0.32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3078242" y="257030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0.30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3897790" y="2570301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37044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343288" y="2744675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accuracy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343288" y="2919055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Macro avg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343288" y="3093424"/>
            <a:ext cx="10959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0" spcFirstLastPara="1" rIns="52275" wrap="square" tIns="43550">
            <a:noAutofit/>
          </a:bodyPr>
          <a:lstStyle/>
          <a:p>
            <a:pPr indent="0" lvl="0" marL="0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Weighted avg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1439147" y="274467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t/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2258695" y="274467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t/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3078242" y="274467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0.82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3897790" y="2744673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1439147" y="291904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0.67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2258695" y="291904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0.68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3078242" y="291904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0.67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3897790" y="2919044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1439147" y="309341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0.83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2" name="Google Shape;252;p27"/>
          <p:cNvSpPr txBox="1"/>
          <p:nvPr/>
        </p:nvSpPr>
        <p:spPr>
          <a:xfrm>
            <a:off x="2258695" y="309341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0.82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3" name="Google Shape;253;p27"/>
          <p:cNvSpPr txBox="1"/>
          <p:nvPr/>
        </p:nvSpPr>
        <p:spPr>
          <a:xfrm>
            <a:off x="3078242" y="309341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0.83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3897790" y="3093416"/>
            <a:ext cx="8196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2"/>
              <a:buNone/>
            </a:pPr>
            <a:r>
              <a:rPr lang="en" sz="119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577847</a:t>
            </a:r>
            <a:endParaRPr sz="119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5304500" y="1803450"/>
            <a:ext cx="2952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Top feature importances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5304500" y="2328450"/>
            <a:ext cx="3753300" cy="10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Brightness at 0.527, and bright_t31 at 0.074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latitude at 0.052</a:t>
            </a:r>
            <a:r>
              <a:rPr lang="en">
                <a:solidFill>
                  <a:schemeClr val="lt1"/>
                </a:solidFill>
              </a:rPr>
              <a:t>, and </a:t>
            </a:r>
            <a:r>
              <a:rPr lang="en">
                <a:solidFill>
                  <a:schemeClr val="lt1"/>
                </a:solidFill>
              </a:rPr>
              <a:t>longitude at 0.056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and </a:t>
            </a:r>
            <a:r>
              <a:rPr lang="en">
                <a:solidFill>
                  <a:schemeClr val="lt1"/>
                </a:solidFill>
              </a:rPr>
              <a:t>frp(Fire Radiative Power) at 0.054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7" name="Google Shape;257;p27"/>
          <p:cNvSpPr txBox="1"/>
          <p:nvPr>
            <p:ph idx="1" type="body"/>
          </p:nvPr>
        </p:nvSpPr>
        <p:spPr>
          <a:xfrm>
            <a:off x="0" y="4624800"/>
            <a:ext cx="3532500" cy="51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D9D9D9"/>
                </a:solidFill>
              </a:rPr>
              <a:t>Numbers rounded for simplicity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696987" y="2221538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550">
            <a:noAutofit/>
          </a:bodyPr>
          <a:lstStyle/>
          <a:p>
            <a:pPr indent="0" lvl="0" marL="0" marR="64008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high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696987" y="2395930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43550">
            <a:noAutofit/>
          </a:bodyPr>
          <a:lstStyle/>
          <a:p>
            <a:pPr indent="0" lvl="0" marL="0" marR="64008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nominal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696987" y="2570310"/>
            <a:ext cx="742200" cy="174300"/>
          </a:xfrm>
          <a:prstGeom prst="rect">
            <a:avLst/>
          </a:prstGeom>
          <a:noFill/>
          <a:ln cap="flat" cmpd="sng" w="90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64000">
            <a:noAutofit/>
          </a:bodyPr>
          <a:lstStyle/>
          <a:p>
            <a:pPr indent="0" lvl="0" marL="0" marR="64008" rtl="0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chemeClr val="lt1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low</a:t>
            </a:r>
            <a:endParaRPr sz="1251">
              <a:solidFill>
                <a:schemeClr val="lt1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61" name="Google Shape;261;p27"/>
          <p:cNvSpPr txBox="1"/>
          <p:nvPr>
            <p:ph type="title"/>
          </p:nvPr>
        </p:nvSpPr>
        <p:spPr>
          <a:xfrm>
            <a:off x="0" y="350450"/>
            <a:ext cx="9144000" cy="756300"/>
          </a:xfrm>
          <a:prstGeom prst="rect">
            <a:avLst/>
          </a:prstGeom>
        </p:spPr>
        <p:txBody>
          <a:bodyPr anchorCtr="0" anchor="t" bIns="87125" lIns="87125" spcFirstLastPara="1" rIns="87125" wrap="square" tIns="871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68">
                <a:solidFill>
                  <a:schemeClr val="lt1"/>
                </a:solidFill>
              </a:rPr>
              <a:t>And finally I made a Decision Tree Classifier</a:t>
            </a:r>
            <a:endParaRPr sz="2668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D4D4D"/>
            </a:gs>
            <a:gs pos="100000">
              <a:srgbClr val="000000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80">
                <a:solidFill>
                  <a:schemeClr val="lt1"/>
                </a:solidFill>
              </a:rPr>
              <a:t>Before we continue are there any questions about the data or the models I made?</a:t>
            </a:r>
            <a:endParaRPr sz="448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9" title="planet-earth-against-black-backgroun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9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700">
                <a:solidFill>
                  <a:schemeClr val="lt1"/>
                </a:solidFill>
              </a:rPr>
              <a:t>Now that the we know about the source of the data let’s go into geographical and temporal analysis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0" title="using-a-fire-extinguish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0"/>
          <p:cNvSpPr txBox="1"/>
          <p:nvPr>
            <p:ph type="title"/>
          </p:nvPr>
        </p:nvSpPr>
        <p:spPr>
          <a:xfrm>
            <a:off x="311700" y="1833300"/>
            <a:ext cx="8520600" cy="14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First I want to know when the most fires have happened, and when they are most likely to happen.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1"/>
          <p:cNvSpPr txBox="1"/>
          <p:nvPr/>
        </p:nvSpPr>
        <p:spPr>
          <a:xfrm>
            <a:off x="0" y="214325"/>
            <a:ext cx="9144000" cy="18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D9D9D9"/>
                </a:solidFill>
              </a:rPr>
              <a:t>On the left you can see the number of fires for each month, and on the right you can see the top 5 years by number of fires.</a:t>
            </a:r>
            <a:endParaRPr sz="2300">
              <a:solidFill>
                <a:srgbClr val="D9D9D9"/>
              </a:solidFill>
            </a:endParaRPr>
          </a:p>
        </p:txBody>
      </p:sp>
      <p:pic>
        <p:nvPicPr>
          <p:cNvPr id="284" name="Google Shape;284;p31" title="Screenshot 2025-07-20 1123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325" y="2065625"/>
            <a:ext cx="4114801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1" title="Screenshot 2025-07-20 11464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880" y="2065635"/>
            <a:ext cx="4663439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2" title="using-a-fire-extinguishe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2"/>
          <p:cNvSpPr txBox="1"/>
          <p:nvPr>
            <p:ph type="title"/>
          </p:nvPr>
        </p:nvSpPr>
        <p:spPr>
          <a:xfrm>
            <a:off x="311700" y="1833300"/>
            <a:ext cx="8520600" cy="147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lt1"/>
                </a:solidFill>
              </a:rPr>
              <a:t>Now I want to know where fires happen the most.</a:t>
            </a:r>
            <a:endParaRPr sz="4200"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3"/>
          <p:cNvSpPr txBox="1"/>
          <p:nvPr>
            <p:ph type="title"/>
          </p:nvPr>
        </p:nvSpPr>
        <p:spPr>
          <a:xfrm>
            <a:off x="0" y="0"/>
            <a:ext cx="9144000" cy="11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8288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</a:rPr>
              <a:t>The graph below shows which states have had the most detected fires</a:t>
            </a:r>
            <a:endParaRPr sz="2220">
              <a:solidFill>
                <a:schemeClr val="lt1"/>
              </a:solidFill>
            </a:endParaRPr>
          </a:p>
        </p:txBody>
      </p:sp>
      <p:pic>
        <p:nvPicPr>
          <p:cNvPr id="297" name="Google Shape;297;p33" title="Screenshot 2025-07-20 1446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6300"/>
            <a:ext cx="9144003" cy="402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24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>
            <p:ph type="title"/>
          </p:nvPr>
        </p:nvSpPr>
        <p:spPr>
          <a:xfrm>
            <a:off x="0" y="0"/>
            <a:ext cx="9144000" cy="111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lt1"/>
                </a:solidFill>
              </a:rPr>
              <a:t>Below is the heat map of fires since the year 2000</a:t>
            </a:r>
            <a:endParaRPr sz="2220">
              <a:solidFill>
                <a:schemeClr val="lt1"/>
              </a:solidFill>
            </a:endParaRPr>
          </a:p>
        </p:txBody>
      </p:sp>
      <p:pic>
        <p:nvPicPr>
          <p:cNvPr id="303" name="Google Shape;303;p34" title="Screenshot 2025-07-22 1639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16300"/>
            <a:ext cx="9144003" cy="40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5"/>
          <p:cNvSpPr txBox="1"/>
          <p:nvPr>
            <p:ph type="ctrTitle"/>
          </p:nvPr>
        </p:nvSpPr>
        <p:spPr>
          <a:xfrm>
            <a:off x="311700" y="352025"/>
            <a:ext cx="8520600" cy="7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Summary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9" name="Google Shape;309;p35"/>
          <p:cNvSpPr txBox="1"/>
          <p:nvPr>
            <p:ph idx="1" type="subTitle"/>
          </p:nvPr>
        </p:nvSpPr>
        <p:spPr>
          <a:xfrm>
            <a:off x="0" y="1067525"/>
            <a:ext cx="9144000" cy="3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200"/>
              <a:buChar char="●"/>
            </a:pPr>
            <a:r>
              <a:rPr lang="en" sz="2200">
                <a:solidFill>
                  <a:srgbClr val="EFEFEF"/>
                </a:solidFill>
              </a:rPr>
              <a:t>FIRMS is a great source for knowing where and when fires happen</a:t>
            </a:r>
            <a:endParaRPr sz="22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EFEFEF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200"/>
              <a:buChar char="●"/>
            </a:pPr>
            <a:r>
              <a:rPr lang="en" sz="2200">
                <a:solidFill>
                  <a:srgbClr val="EFEFEF"/>
                </a:solidFill>
              </a:rPr>
              <a:t>The brightness of the fire is</a:t>
            </a:r>
            <a:r>
              <a:rPr lang="en" sz="2200">
                <a:solidFill>
                  <a:srgbClr val="EFEFEF"/>
                </a:solidFill>
              </a:rPr>
              <a:t> the most important value for confidence of the data from the dataset</a:t>
            </a:r>
            <a:endParaRPr sz="22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EFEFEF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200"/>
              <a:buChar char="●"/>
            </a:pPr>
            <a:r>
              <a:rPr lang="en" sz="2200">
                <a:solidFill>
                  <a:srgbClr val="EFEFEF"/>
                </a:solidFill>
              </a:rPr>
              <a:t>Fires happen the most in the summer and early fall months,</a:t>
            </a:r>
            <a:endParaRPr sz="2200">
              <a:solidFill>
                <a:srgbClr val="EFEFEF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FEFEF"/>
                </a:solidFill>
              </a:rPr>
              <a:t>and there isn’t an outlier in the years recorded for number of fires</a:t>
            </a:r>
            <a:endParaRPr sz="2200">
              <a:solidFill>
                <a:srgbClr val="EFEFE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EFEFEF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2200"/>
              <a:buChar char="●"/>
            </a:pPr>
            <a:r>
              <a:rPr lang="en" sz="2200">
                <a:solidFill>
                  <a:srgbClr val="EFEFEF"/>
                </a:solidFill>
              </a:rPr>
              <a:t>Fires happen the most in Alaska and California</a:t>
            </a:r>
            <a:endParaRPr sz="2200">
              <a:solidFill>
                <a:srgbClr val="EFEFE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EFEFEF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